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eelawadee" panose="020B0502040204020203" pitchFamily="34" charset="-34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695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1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11" Type="http://schemas.openxmlformats.org/officeDocument/2006/relationships/image" Target="../media/image17.png"/><Relationship Id="rId5" Type="http://schemas.openxmlformats.org/officeDocument/2006/relationships/image" Target="../media/image12.svg"/><Relationship Id="rId10" Type="http://schemas.openxmlformats.org/officeDocument/2006/relationships/image" Target="../media/image16.png"/><Relationship Id="rId4" Type="http://schemas.openxmlformats.org/officeDocument/2006/relationships/image" Target="../media/image11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10953"/>
            <a:ext cx="4722763" cy="138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" panose="020B0604020202020204" charset="0"/>
                <a:cs typeface="Leelawadee" panose="020B0502040204020203" pitchFamily="34" charset="-34"/>
              </a:rPr>
              <a:t>Modelarea probabilistică a precipitațiilor din Sydney folosind lanțuri Markov</a:t>
            </a:r>
            <a:endParaRPr lang="en-US" sz="2750" dirty="0">
              <a:latin typeface="Leelawadee" panose="020B0502040204020203" pitchFamily="34" charset="-34"/>
              <a:ea typeface="Geist" panose="020B0604020202020204" charset="0"/>
              <a:cs typeface="Leelawadee" panose="020B0502040204020203" pitchFamily="34" charset="-34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2905646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anose="020B0604020202020204" charset="0"/>
                <a:cs typeface="Leelawadee" panose="020B0502040204020203" pitchFamily="34" charset="-34"/>
              </a:rPr>
              <a:t>Statistică Aplicată și Data Science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anose="020B0604020202020204" charset="0"/>
                <a:cs typeface="Leelawadee" panose="020B0502040204020203" pitchFamily="34" charset="-34"/>
              </a:rPr>
              <a:t>Facultatea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anose="020B0604020202020204" charset="0"/>
                <a:cs typeface="Leelawadee" panose="020B0502040204020203" pitchFamily="34" charset="-34"/>
              </a:rPr>
              <a:t> de Cibernetică, Statistică și Informatică Economică</a:t>
            </a:r>
            <a:endParaRPr lang="en-US" sz="1100" dirty="0">
              <a:latin typeface="Leelawadee" panose="020B0502040204020203" pitchFamily="34" charset="-34"/>
              <a:ea typeface="Geist" panose="020B0604020202020204" charset="0"/>
              <a:cs typeface="Leelawadee" panose="020B0502040204020203" pitchFamily="34" charset="-3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3433614"/>
            <a:ext cx="2339399" cy="883409"/>
          </a:xfrm>
          <a:prstGeom prst="roundRect">
            <a:avLst>
              <a:gd name="adj" fmla="val 11943"/>
            </a:avLst>
          </a:prstGeom>
          <a:noFill/>
          <a:ln w="9525">
            <a:solidFill>
              <a:srgbClr val="629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0699" y="3485629"/>
            <a:ext cx="2108539" cy="787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6296FF"/>
                </a:solidFill>
                <a:latin typeface="Leelawadee" panose="020B0502040204020203" pitchFamily="34" charset="-34"/>
                <a:ea typeface="Geist" panose="020B0604020202020204" charset="0"/>
                <a:cs typeface="Leelawadee" panose="020B0502040204020203" pitchFamily="34" charset="-34"/>
              </a:rPr>
              <a:t>DANILOV MATEI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6296FF"/>
                </a:solidFill>
                <a:latin typeface="Leelawadee" panose="020B0502040204020203" pitchFamily="34" charset="-34"/>
                <a:ea typeface="Geist" panose="020B0604020202020204" charset="0"/>
                <a:cs typeface="Leelawadee" panose="020B0502040204020203" pitchFamily="34" charset="-34"/>
              </a:rPr>
              <a:t>NIȚU VLAD CRISTIAN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6296FF"/>
                </a:solidFill>
                <a:latin typeface="Leelawadee" panose="020B0502040204020203" pitchFamily="34" charset="-34"/>
                <a:ea typeface="Geist" panose="020B0604020202020204" charset="0"/>
                <a:cs typeface="Leelawadee" panose="020B0502040204020203" pitchFamily="34" charset="-34"/>
              </a:rPr>
              <a:t>MIRON ANDREEA PARASCHIVA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6296FF"/>
                </a:solidFill>
                <a:latin typeface="Leelawadee" panose="020B0502040204020203" pitchFamily="34" charset="-34"/>
                <a:ea typeface="Geist" panose="020B0604020202020204" charset="0"/>
                <a:cs typeface="Leelawadee" panose="020B0502040204020203" pitchFamily="34" charset="-34"/>
              </a:rPr>
              <a:t>CONSTANTIN TEODOR VASILE</a:t>
            </a:r>
            <a:endParaRPr lang="en-US" sz="1100" dirty="0">
              <a:latin typeface="Leelawadee" panose="020B0502040204020203" pitchFamily="34" charset="-34"/>
              <a:ea typeface="Geist" panose="020B0604020202020204" charset="0"/>
              <a:cs typeface="Leelawadee" panose="020B0502040204020203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5781"/>
            <a:ext cx="4001319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Introducere</a:t>
            </a:r>
            <a:endParaRPr lang="en-US" sz="27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1209080"/>
            <a:ext cx="472276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Previziunea meteorologică precisă este esențială pentru societate și sistemele energetice.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Radiația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 solară prezintă variabilitate intrinsecă cu atenuări de până la </a:t>
            </a: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80%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, afectând producția fotovoltaică și stabilitatea rețelei electrice </a:t>
            </a:r>
            <a:r>
              <a:rPr lang="en-US" sz="1100" i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(Urrego-Ortiz et al., 2019)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2105546"/>
            <a:ext cx="2290465" cy="1364456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81165" y="2261592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Modele statistice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7" name="Text 4"/>
          <p:cNvSpPr/>
          <p:nvPr/>
        </p:nvSpPr>
        <p:spPr>
          <a:xfrm>
            <a:off x="4081165" y="2576959"/>
            <a:ext cx="1978372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Acuratețe superioară pentru orizonturi scurte în zone cu variabilitate climatică accentuată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57342" y="2105546"/>
            <a:ext cx="2290539" cy="1364456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3388" y="2261592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Lanțuri Markov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13388" y="2576959"/>
            <a:ext cx="197844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Tehnică robustă pentru modelarea stocastică a proceselor meteorologice prin matrici de tranziție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25119" y="3611761"/>
            <a:ext cx="4722763" cy="995958"/>
          </a:xfrm>
          <a:prstGeom prst="roundRect">
            <a:avLst>
              <a:gd name="adj" fmla="val 5978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81165" y="3767807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Abordare Bayesiană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81165" y="4083174"/>
            <a:ext cx="44106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Cadru unificator pentru combinarea informațiilor din surse multiple și gestionarea incertitudinilor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C666FA-B3F2-44B4-A578-F56422454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439" y="4783007"/>
            <a:ext cx="1217561" cy="3526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04800"/>
            <a:ext cx="3170709" cy="35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Prezentarea Datelor</a:t>
            </a:r>
            <a:endParaRPr lang="en-US" sz="2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875705"/>
            <a:ext cx="4775299" cy="3175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2163" y="2016993"/>
            <a:ext cx="220853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Dataset „Rain in Australia"</a:t>
            </a:r>
            <a:endParaRPr lang="en-US" sz="12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5872163" y="2276326"/>
            <a:ext cx="2449116" cy="786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Date zilnice pe parcursul a </a:t>
            </a:r>
            <a:r>
              <a:rPr lang="en-US" sz="10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10 ani</a:t>
            </a:r>
            <a:r>
              <a:rPr lang="en-US" sz="10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, extrase de pe </a:t>
            </a:r>
            <a:r>
              <a:rPr lang="en-US" sz="10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Kaggle</a:t>
            </a:r>
            <a:r>
              <a:rPr lang="en-US" sz="10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. 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10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Locație</a:t>
            </a:r>
            <a:r>
              <a:rPr lang="en-US" sz="10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</a:t>
            </a:r>
            <a:r>
              <a:rPr lang="en-US" sz="10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Sydney</a:t>
            </a:r>
            <a:r>
              <a:rPr lang="en-US" sz="10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. 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10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Variabilă</a:t>
            </a:r>
            <a:r>
              <a:rPr lang="en-US" sz="10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cantitatea de precipitații (mm/zi).</a:t>
            </a:r>
            <a:endParaRPr lang="en-US" sz="10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5861224" y="3130393"/>
            <a:ext cx="2608213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Clasificarea în 3 stări categorice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27336" y="4237658"/>
            <a:ext cx="2441004" cy="601042"/>
          </a:xfrm>
          <a:prstGeom prst="roundRect">
            <a:avLst>
              <a:gd name="adj" fmla="val 1141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48" y="4237658"/>
            <a:ext cx="57150" cy="6010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2981" y="4360441"/>
            <a:ext cx="181391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🌤</a:t>
            </a:r>
            <a:r>
              <a:rPr lang="en-US" sz="10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Uscat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92981" y="4591348"/>
            <a:ext cx="2609776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Rainfall = 0 mm</a:t>
            </a:r>
            <a:endParaRPr lang="en-US" sz="8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351386" y="4237658"/>
            <a:ext cx="2441079" cy="601042"/>
          </a:xfrm>
          <a:prstGeom prst="roundRect">
            <a:avLst>
              <a:gd name="adj" fmla="val 1141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099" y="4237658"/>
            <a:ext cx="57150" cy="6010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17032" y="4360441"/>
            <a:ext cx="181391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🌦</a:t>
            </a:r>
            <a:r>
              <a:rPr lang="en-US" sz="10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Ploaie slabă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517032" y="4591348"/>
            <a:ext cx="2609850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Rainfall între 0 și 2 mm</a:t>
            </a:r>
            <a:endParaRPr lang="en-US" sz="8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875511" y="4237658"/>
            <a:ext cx="2441079" cy="601042"/>
          </a:xfrm>
          <a:prstGeom prst="roundRect">
            <a:avLst>
              <a:gd name="adj" fmla="val 11410"/>
            </a:avLst>
          </a:prstGeom>
          <a:solidFill>
            <a:srgbClr val="101620">
              <a:alpha val="95000"/>
            </a:srgbClr>
          </a:solidFill>
          <a:ln w="14288">
            <a:solidFill>
              <a:srgbClr val="002A8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224" y="4237658"/>
            <a:ext cx="57150" cy="6010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41157" y="4360441"/>
            <a:ext cx="1813917" cy="18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🌧</a:t>
            </a:r>
            <a:r>
              <a:rPr lang="en-US" sz="10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Ploaie abundentă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041157" y="4591348"/>
            <a:ext cx="2609850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Rainfall &gt; 2 mm</a:t>
            </a:r>
            <a:endParaRPr lang="en-US" sz="8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18640C4-1ACB-4480-8EEA-A1DD3E0F5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834" y="4851923"/>
            <a:ext cx="1217561" cy="2471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3825255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Spațiul Stărilor și Matricea de Tranziție</a:t>
            </a:r>
            <a:endParaRPr lang="en-US" sz="20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2578300" y="1310505"/>
            <a:ext cx="5348139" cy="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Spațiul stărilor: </a:t>
            </a: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S = {Uscat, Ploaie slabă, Ploaie abundentă}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33050" y="2310945"/>
            <a:ext cx="144073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Matricea de tranziție P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89312" y="2305116"/>
            <a:ext cx="142473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 err="1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Graful</a:t>
            </a:r>
            <a:r>
              <a:rPr lang="en-US" sz="10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</a:t>
            </a:r>
            <a:r>
              <a:rPr lang="en-US" sz="1050" b="1" dirty="0" err="1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tranzi</a:t>
            </a:r>
            <a:r>
              <a:rPr lang="ro-RO" sz="10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ţiilor starii vremii</a:t>
            </a:r>
            <a:r>
              <a:rPr lang="en-US" sz="10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903613" y="5505822"/>
            <a:ext cx="3575745" cy="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5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Toate stările comunică între ele, formând o </a:t>
            </a:r>
            <a:r>
              <a:rPr lang="en-US" sz="55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singură clasă de comunicare</a:t>
            </a:r>
            <a:r>
              <a:rPr lang="en-US" sz="5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.</a:t>
            </a:r>
            <a:endParaRPr lang="en-US" sz="5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11E303C-9F9E-4C6A-8E25-D47652CBC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439" y="4783007"/>
            <a:ext cx="1217561" cy="35267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1F0A122-6F77-4085-8FAC-F46A1EB40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72" y="3091698"/>
            <a:ext cx="3464748" cy="8180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E67DEE4-01E2-4C8E-82FA-04B4E8A98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6411" y="2736833"/>
            <a:ext cx="2453477" cy="1699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3469" y="154893"/>
            <a:ext cx="5511478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Proprietățile Lanțului Markov</a:t>
            </a:r>
            <a:endParaRPr lang="en-US" sz="27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57" y="72903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2157" y="1189733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Ireductibil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2157" y="1505099"/>
            <a:ext cx="398725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Din orice stare se poate ajunge în orice altă stare într-un număr finit de pași. Toate stările aparțin aceleiași clase de comunicare.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553" y="70433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1165028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Recurent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60553" y="1480394"/>
            <a:ext cx="3987329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Toate stările sunt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recurente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fiecare este revisitată cu probabilitate 1 pe termen lung. Nu există stări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tranziente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.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94" y="2894186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94" y="3354883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Aperiodic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96194" y="3670250"/>
            <a:ext cx="398725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Fiecare stare are perioada egală cu 1, deoarece există probabilitate pozitivă de revenire într-un singur pas.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0477" y="2894186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477" y="3354883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Ergodic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660477" y="3670250"/>
            <a:ext cx="3987329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Ireductibil + Recurent + Aperiodic → Lanț ergodic. Admite o distribuție staționară unică, independentă de starea inițială.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55F1E9-6CDA-4858-A87B-25CB40997C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6439" y="4783007"/>
            <a:ext cx="1217561" cy="3526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544A84-9479-41E1-B43D-31BDDE407DDD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1232446" y="2348506"/>
            <a:ext cx="2514600" cy="1866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6F2ADB-0BBB-4DE4-A9B8-D63D2E4A0BC4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5249056" y="2020782"/>
            <a:ext cx="2285951" cy="7686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986931-7719-4326-ACF4-4811ACE3D4B6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1104934" y="4123803"/>
            <a:ext cx="2626050" cy="934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27869C-B1ED-460D-A67B-924BD11FB6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7275" y="4406024"/>
            <a:ext cx="3483334" cy="303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2472"/>
            <a:ext cx="4188247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Distribuția Staționară</a:t>
            </a:r>
            <a:endParaRPr lang="en-US" sz="27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5240"/>
            <a:ext cx="3902943" cy="218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07529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Interpretare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49701" y="1679600"/>
            <a:ext cx="390294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Distribuția staționară descrie comportamentul sistemului meteorologic pe termen lung. Valorile reprezintă proporția estimată de timp petrecută în fiecare stare după un număr foarte mare de tranziții.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96119" y="3829794"/>
            <a:ext cx="2622724" cy="821234"/>
          </a:xfrm>
          <a:prstGeom prst="roundRect">
            <a:avLst>
              <a:gd name="adj" fmla="val 7250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6927" y="3990603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🌤</a:t>
            </a: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Uscat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6927" y="4305970"/>
            <a:ext cx="2270911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60.6%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60601" y="3829794"/>
            <a:ext cx="2622724" cy="821234"/>
          </a:xfrm>
          <a:prstGeom prst="roundRect">
            <a:avLst>
              <a:gd name="adj" fmla="val 7250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1410" y="3990603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🌦</a:t>
            </a: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Ploaie slabă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21410" y="4305970"/>
            <a:ext cx="275830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21.5%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25083" y="3829794"/>
            <a:ext cx="2622724" cy="821234"/>
          </a:xfrm>
          <a:prstGeom prst="roundRect">
            <a:avLst>
              <a:gd name="adj" fmla="val 7250"/>
            </a:avLst>
          </a:prstGeom>
          <a:solidFill>
            <a:srgbClr val="101620">
              <a:alpha val="95000"/>
            </a:srgbClr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85892" y="3990603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🌧</a:t>
            </a: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Ploaie abundentă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85892" y="4305970"/>
            <a:ext cx="275830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17.9%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E1F8A3-B1CC-40A9-9E1D-90744E71B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439" y="4783007"/>
            <a:ext cx="1217561" cy="352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9144" y="432561"/>
            <a:ext cx="4001319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Distribuția Limită</a:t>
            </a:r>
            <a:endParaRPr lang="en-US" sz="27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Text 1"/>
          <p:cNvSpPr/>
          <p:nvPr/>
        </p:nvSpPr>
        <p:spPr>
          <a:xfrm>
            <a:off x="719144" y="1105860"/>
            <a:ext cx="472276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Matricea de tranziție a fost ridicată la puterea </a:t>
            </a: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100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. Toate liniile devin identice și coincid cu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distribuția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staționară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,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confirmând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 convergența lanțului Markov către un regim de echilibru și caracterul ergodic al procesului.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19143" y="4090499"/>
            <a:ext cx="4722763" cy="559817"/>
          </a:xfrm>
          <a:prstGeom prst="roundRect">
            <a:avLst>
              <a:gd name="adj" fmla="val 10636"/>
            </a:avLst>
          </a:prstGeom>
          <a:solidFill>
            <a:srgbClr val="02234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1" y="4281743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9840" y="4267679"/>
            <a:ext cx="457750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Distribuția limită:</a:t>
            </a:r>
            <a:r>
              <a:rPr lang="en-US" sz="1100" dirty="0">
                <a:solidFill>
                  <a:srgbClr val="FFFFFF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 π = (0.1788, 0.2150, 0.6062)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8D79AC-B254-4842-94B7-014AE4AD2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439" y="4783007"/>
            <a:ext cx="1217561" cy="3526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766595-AF76-4618-865A-B91024A1C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708" y="2173250"/>
            <a:ext cx="4338583" cy="15031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2787"/>
            <a:ext cx="5608886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Durata Medie de </a:t>
            </a:r>
            <a:r>
              <a:rPr lang="en-US" sz="2750" b="1" dirty="0" err="1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Reîntoarcere</a:t>
            </a:r>
            <a:endParaRPr lang="en-US" sz="27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49701" y="1797844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Interpretare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49701" y="2169914"/>
            <a:ext cx="390294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Durata medie de reîntoarcere indică numărul mediu de pași necesari pentru ca lanțul să revină într-o anumită stare.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49701" y="2665958"/>
            <a:ext cx="3902943" cy="83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Uscat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~1.65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zile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confirmă starea dominantă a sistemului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Ploaie slabă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~4.65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zile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frecvență moderată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Ploaie abundentă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~5.59 </a:t>
            </a:r>
            <a:r>
              <a:rPr lang="en-US" sz="1100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zile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: cea mai rară stare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EB5B85-63B2-421E-983B-588C1BD3D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439" y="4783007"/>
            <a:ext cx="1217561" cy="3526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0396CF-3147-433A-8BC0-AD405D47E51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64667" y="1852820"/>
            <a:ext cx="4235352" cy="1626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8753"/>
            <a:ext cx="5091559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 err="1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Simularea</a:t>
            </a: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</a:t>
            </a:r>
            <a:r>
              <a:rPr lang="en-US" sz="2750" b="1" dirty="0" err="1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Traiectoriei</a:t>
            </a: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</a:t>
            </a:r>
            <a:r>
              <a:rPr lang="en-US" sz="2750" b="1" dirty="0" err="1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Lanțului</a:t>
            </a:r>
            <a:r>
              <a:rPr lang="en-US" sz="27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 Markov</a:t>
            </a:r>
            <a:endParaRPr lang="en-US" sz="27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97217" y="1280364"/>
            <a:ext cx="22292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Simulare 365 de zile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97217" y="1652435"/>
            <a:ext cx="2628230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Traiectorie generată pornind din starea „Uscat". Frecvențele relative ale stărilor obținute sunt </a:t>
            </a:r>
            <a:r>
              <a:rPr lang="en-US" sz="110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apropiate de distribuția staționară</a:t>
            </a: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, confirmând convergența către regimul de echilibru.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97217" y="2878268"/>
            <a:ext cx="287186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Simulare 10.000 de repetări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97217" y="3250338"/>
            <a:ext cx="2628230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Orizont de 100 de pași. Frecvențele relative ale stărilor finale sunt foarte apropiate de valorile teoretice. Diferențele reduse se explică prin caracterul aleator al simulării, validând modelul Markov estimat.</a:t>
            </a:r>
            <a:endParaRPr lang="en-US" sz="11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F2FD99-FC06-4AB6-8D7D-346765CE1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439" y="4783007"/>
            <a:ext cx="1217561" cy="352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6359D5-D68E-4B4B-9ABD-D040116B95E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7943" y="1395520"/>
            <a:ext cx="3744057" cy="11391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451BAC-3A56-4B9A-AD2F-339E62B26CA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27943" y="2752502"/>
            <a:ext cx="4157282" cy="19345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452958"/>
            <a:ext cx="3890590" cy="446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Concluzie</a:t>
            </a:r>
            <a:endParaRPr lang="en-US" sz="27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135" y="1107356"/>
            <a:ext cx="205978" cy="2059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6902" y="1098798"/>
            <a:ext cx="2173858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Model validat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6" name="Text 2"/>
          <p:cNvSpPr/>
          <p:nvPr/>
        </p:nvSpPr>
        <p:spPr>
          <a:xfrm>
            <a:off x="926902" y="1401738"/>
            <a:ext cx="4307458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Lanțul Markov construit pe datasetul „Rain in Australia" este </a:t>
            </a:r>
            <a:r>
              <a:rPr lang="en-US" sz="105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ireductibil, recurent </a:t>
            </a:r>
            <a:r>
              <a:rPr lang="en-US" sz="1050" b="1" dirty="0" err="1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și</a:t>
            </a:r>
            <a:r>
              <a:rPr lang="en-US" sz="105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 aperiodic,</a:t>
            </a:r>
            <a:r>
              <a:rPr lang="en-US" sz="10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 confirmând caracterul ergodic.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135" y="2027858"/>
            <a:ext cx="205978" cy="2059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6902" y="2019300"/>
            <a:ext cx="2173858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Stare dominantă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9" name="Text 4"/>
          <p:cNvSpPr/>
          <p:nvPr/>
        </p:nvSpPr>
        <p:spPr>
          <a:xfrm>
            <a:off x="926902" y="2322240"/>
            <a:ext cx="4307458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Distribuția staționară arată că starea </a:t>
            </a:r>
            <a:r>
              <a:rPr lang="en-US" sz="105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„Uscat"</a:t>
            </a:r>
            <a:r>
              <a:rPr lang="en-US" sz="10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 este predominantă în Sydney (60.6%), iar precipitațiile apar cu frecvențe mai reduse.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135" y="2948360"/>
            <a:ext cx="205978" cy="2059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6902" y="2939802"/>
            <a:ext cx="2496294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Convergență confirmată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26902" y="3242742"/>
            <a:ext cx="4307458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Calculul distribuției limită și simulările confirmă convergența lanțului către distribuția staționară, </a:t>
            </a:r>
            <a:r>
              <a:rPr lang="en-US" sz="105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indiferent de starea inițială</a:t>
            </a:r>
            <a:r>
              <a:rPr lang="en-US" sz="10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.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135" y="3868862"/>
            <a:ext cx="205978" cy="20597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6902" y="3860304"/>
            <a:ext cx="2173858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Instrument eficient</a:t>
            </a:r>
            <a:endParaRPr lang="en-US" sz="13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5" name="Text 8"/>
          <p:cNvSpPr/>
          <p:nvPr/>
        </p:nvSpPr>
        <p:spPr>
          <a:xfrm>
            <a:off x="926902" y="4163244"/>
            <a:ext cx="4307458" cy="527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Lanțurile Markov reprezintă un instrument </a:t>
            </a:r>
            <a:r>
              <a:rPr lang="en-US" sz="1050" b="1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eficient pentru modelarea fenomenelor meteorologice</a:t>
            </a:r>
            <a:r>
              <a:rPr lang="en-US" sz="1050" dirty="0">
                <a:solidFill>
                  <a:srgbClr val="EBEDF0"/>
                </a:solidFill>
                <a:latin typeface="Leelawadee" panose="020B0502040204020203" pitchFamily="34" charset="-34"/>
                <a:ea typeface="Geist" pitchFamily="34" charset="-122"/>
                <a:cs typeface="Leelawadee" panose="020B0502040204020203" pitchFamily="34" charset="-34"/>
              </a:rPr>
              <a:t> și analiza probabilistică a vremii pe termen lung.</a:t>
            </a:r>
            <a:endParaRPr lang="en-US" sz="105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93978" y="452958"/>
            <a:ext cx="3890590" cy="446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Mul</a:t>
            </a:r>
            <a:r>
              <a:rPr lang="ro-RO" sz="4000" b="1" dirty="0">
                <a:solidFill>
                  <a:srgbClr val="F2F5FA"/>
                </a:solidFill>
                <a:latin typeface="Leelawadee" panose="020B0502040204020203" pitchFamily="34" charset="-34"/>
                <a:ea typeface="Geist Bold" pitchFamily="34" charset="-122"/>
                <a:cs typeface="Leelawadee" panose="020B0502040204020203" pitchFamily="34" charset="-34"/>
              </a:rPr>
              <a:t>ţumim pentru atenţie!</a:t>
            </a:r>
            <a:endParaRPr lang="en-US" sz="4000" dirty="0"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3A24AF-532C-4125-8334-DBC7E1E5B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439" y="4783007"/>
            <a:ext cx="1217561" cy="352679"/>
          </a:xfrm>
          <a:prstGeom prst="rect">
            <a:avLst/>
          </a:prstGeom>
        </p:spPr>
      </p:pic>
      <p:pic>
        <p:nvPicPr>
          <p:cNvPr id="1028" name="Picture 4" descr="Vremea în Sydney – Februarie: medii, ploaie &amp; lumină">
            <a:extLst>
              <a:ext uri="{FF2B5EF4-FFF2-40B4-BE49-F238E27FC236}">
                <a16:creationId xmlns:a16="http://schemas.microsoft.com/office/drawing/2014/main" id="{0560327B-B3DB-44CE-BF4E-CBA1CD6A9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019" y="1383074"/>
            <a:ext cx="4615962" cy="346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18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629</Words>
  <Application>Microsoft Office PowerPoint</Application>
  <PresentationFormat>On-screen Show (16:9)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Leelawadee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Constantin Teodor</cp:lastModifiedBy>
  <cp:revision>6</cp:revision>
  <dcterms:created xsi:type="dcterms:W3CDTF">2026-05-18T11:50:01Z</dcterms:created>
  <dcterms:modified xsi:type="dcterms:W3CDTF">2026-05-18T12:26:17Z</dcterms:modified>
</cp:coreProperties>
</file>